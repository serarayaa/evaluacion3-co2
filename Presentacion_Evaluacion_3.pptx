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tema, integrantes y propósito del trabajo. Enfatizar que los gráficos responden preguntas concretas.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cuatro preguntas de análisis. Reforzar que cada gráfico fue elegido por su propósito: tendencia, comparación y relación.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el dataset y las columnas seleccionadas. No entrar en todos los campos, solo en los necesarios para el análisis.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el grupo sabe explicar la preparación. Destacar que no se eliminan datos sin criterio: solo cuando el gráfico necesita la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dashboard guía la mirada. Primero indicadores, luego los gráficos que explican esos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Defender por qué se usa línea: tendencia temporal. Mencionar hover y zoom en el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Defender por qué se usan barras: comparación entre categorías. No confundir total con per cápita.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dispersión permite ver si dos variables se mueven juntas. La correlación no prueba causalidad, solo asociación.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Chile en dos niveles: evolución propia y comparación regional. Recalcar que CO₂ total y per cápita responden preguntas distintas.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el material de clases: no se evalúa solo lo bonito, se evalúa si comunica y responde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capturas reales del grupo al presentar. Explicar brevemente qué hace add, commit, push y pull.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hallazgos. Dejar claro que no solo se graficó, sino que se interpretó cada visualización.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 wrap="square"/>
          <a:p/>
        </p:txBody>
      </p:sp>
      <p:sp>
        <p:nvSpPr>
          <p:cNvPr id="3" name="Shape 1"/>
          <p:cNvSpPr/>
          <p:nvPr/>
        </p:nvSpPr>
        <p:spPr>
          <a:xfrm>
            <a:off x="0" y="118872"/>
            <a:ext cx="5623560" cy="619963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4" name="Text 2"/>
          <p:cNvSpPr/>
          <p:nvPr/>
        </p:nvSpPr>
        <p:spPr>
          <a:xfrm>
            <a:off x="685800" y="1051560"/>
            <a:ext cx="47091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 interactivo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emisiones de CO₂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2770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3F2"/>
                </a:solidFill>
              </a:rPr>
              <a:t>Python · Pandas · Plotly · Mini dashboard · Git/GitHub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257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2"/>
                </a:solidFill>
              </a:rPr>
              <a:t>Evaluación Parcial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3F2"/>
                </a:solidFill>
              </a:rPr>
              <a:t>Programación para la Ciencia de Datos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44184" y="950976"/>
            <a:ext cx="5376672" cy="4507992"/>
          </a:xfrm>
          <a:prstGeom prst="roundRect">
            <a:avLst>
              <a:gd name="adj" fmla="val 10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pic>
        <p:nvPicPr>
          <p:cNvPr id="8" name="Image 0" descr="/mnt/data/eval3_assets/dashboard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942176"/>
            <a:ext cx="5303520" cy="252559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92240" y="5669280"/>
            <a:ext cx="2194560" cy="301752"/>
          </a:xfrm>
          <a:prstGeom prst="roundRect">
            <a:avLst>
              <a:gd name="adj" fmla="val 21212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 wrap="square"/>
          <a:p/>
        </p:txBody>
      </p:sp>
      <p:sp>
        <p:nvSpPr>
          <p:cNvPr id="10" name="Text 7"/>
          <p:cNvSpPr/>
          <p:nvPr/>
        </p:nvSpPr>
        <p:spPr>
          <a:xfrm>
            <a:off x="6601968" y="5733288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 datos a decisiones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7315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6809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900" b="1">
                <a:solidFill>
                  <a:srgbClr val="123452"/>
                </a:solidFill>
                <a:latin typeface="Aptos Display"/>
              </a:rPr>
              <a:t>Aclaración sobre los gráficos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87552"/>
            <a:ext cx="8686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Aptos"/>
              </a:rPr>
              <a:t>Mismo análisis del Notebook, adaptado visualmente para la presentación.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645920"/>
            <a:ext cx="109728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155448" wrap="square"/>
          <a:lstStyle/>
          <a:p>
            <a:pPr algn="ctr"/>
            <a:r>
              <a:rPr sz="1700" b="1">
                <a:solidFill>
                  <a:srgbClr val="123452"/>
                </a:solidFill>
                <a:latin typeface="Aptos"/>
              </a:rPr>
              <a:t>Los gráficos de este PPTX corresponden a las mismas preguntas, variables y resultados desarrollados en el Notebook de Google Colab.</a:t>
            </a:r>
          </a:p>
          <a:p>
            <a:pPr>
              <a:spcBef>
                <a:spcPts val="900"/>
              </a:spcBef>
            </a:pPr>
            <a:r>
              <a:rPr sz="1400">
                <a:solidFill>
                  <a:srgbClr val="303C48"/>
                </a:solidFill>
                <a:latin typeface="Aptos"/>
              </a:rPr>
              <a:t>Para facilitar la exposición, aquí se muestran como imágenes estáticas adaptadas al formato de presentación, manteniendo la coherencia con el análisis realizado en Python, Pandas y Plotly.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3429000"/>
            <a:ext cx="3337560" cy="13258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4944" y="3630168"/>
            <a:ext cx="384048" cy="384048"/>
          </a:xfrm>
          <a:prstGeom prst="ellipse">
            <a:avLst/>
          </a:prstGeom>
          <a:solidFill>
            <a:srgbClr val="12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3584448"/>
            <a:ext cx="2423160" cy="3474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400" b="1">
                <a:solidFill>
                  <a:srgbClr val="123452"/>
                </a:solidFill>
                <a:latin typeface="Aptos"/>
              </a:rPr>
              <a:t>Mismo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959352"/>
            <a:ext cx="2423160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050">
                <a:solidFill>
                  <a:srgbClr val="303C48"/>
                </a:solidFill>
                <a:latin typeface="Aptos"/>
              </a:rPr>
              <a:t>Se trabaja con el archivo owid-co2-data.csv.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3429000"/>
            <a:ext cx="3337560" cy="13258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9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98264" y="3630168"/>
            <a:ext cx="384048" cy="384048"/>
          </a:xfrm>
          <a:prstGeom prst="ellipse">
            <a:avLst/>
          </a:prstGeom>
          <a:solidFill>
            <a:srgbClr val="12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3584448"/>
            <a:ext cx="2423160" cy="3474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400" b="1">
                <a:solidFill>
                  <a:srgbClr val="123452"/>
                </a:solidFill>
                <a:latin typeface="Aptos"/>
              </a:rPr>
              <a:t>Mismas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3959352"/>
            <a:ext cx="2423160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050">
                <a:solidFill>
                  <a:srgbClr val="303C48"/>
                </a:solidFill>
                <a:latin typeface="Aptos"/>
              </a:rPr>
              <a:t>País, año, población, CO₂ total y CO₂ per cápita.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3429000"/>
            <a:ext cx="3337560" cy="1325880"/>
          </a:xfrm>
          <a:prstGeom prst="roundRect">
            <a:avLst/>
          </a:prstGeom>
          <a:solidFill>
            <a:srgbClr val="FFF6EE"/>
          </a:solidFill>
          <a:ln w="12700">
            <a:solidFill>
              <a:srgbClr val="F4A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01584" y="3630168"/>
            <a:ext cx="384048" cy="384048"/>
          </a:xfrm>
          <a:prstGeom prst="ellipse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3584448"/>
            <a:ext cx="2423160" cy="3474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400" b="1">
                <a:solidFill>
                  <a:srgbClr val="123452"/>
                </a:solidFill>
                <a:latin typeface="Aptos"/>
              </a:rPr>
              <a:t>Adaptación al 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3959352"/>
            <a:ext cx="2240280" cy="7498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Aptos"/>
              </a:rPr>
              <a:t>En Colab son interactivos;</a:t>
            </a:r>
          </a:p>
          <a:p>
            <a:r>
              <a:rPr sz="1100" b="0">
                <a:solidFill>
                  <a:srgbClr val="2D3748"/>
                </a:solidFill>
                <a:latin typeface="Aptos"/>
              </a:rPr>
              <a:t>en PPTX se prioriza lectura rápida.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5257800"/>
            <a:ext cx="10972800" cy="530352"/>
          </a:xfrm>
          <a:prstGeom prst="roundRect">
            <a:avLst/>
          </a:prstGeom>
          <a:solidFill>
            <a:srgbClr val="FFF6EE"/>
          </a:solidFill>
          <a:ln w="12700">
            <a:solidFill>
              <a:srgbClr val="F4A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ctr"/>
            <a:r>
              <a:rPr sz="1200">
                <a:solidFill>
                  <a:srgbClr val="303C48"/>
                </a:solidFill>
                <a:latin typeface="Aptos"/>
              </a:rPr>
              <a:t>Frase para defensa: “Las visualizaciones nacen en Colab; en el PPTX se muestran en versión estática para explicar mejor los resultados en 15 minutos.”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21792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50" b="0">
                <a:solidFill>
                  <a:srgbClr val="5B6B7C"/>
                </a:solidFill>
                <a:latin typeface="Aptos"/>
              </a:rPr>
              <a:t>Evaluación Parcial 3 · Programación para la Ciencia de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600">
                <a:solidFill>
                  <a:srgbClr val="5B6B7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566928" y="402336"/>
            <a:ext cx="7772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y objetivo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análisis se organiza desde preguntas, no desde gráficos sueltos.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54864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 la evolución de emisiones mundiales de CO₂ desde 1990.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países en el año más reciente disponible.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 la relación entre población y emisiones totales.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el caso de Chile frente a países seleccionados de la región.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0" y="150876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 wrap="square"/>
          <a:p/>
        </p:txBody>
      </p:sp>
      <p:sp>
        <p:nvSpPr>
          <p:cNvPr id="7" name="Text 5"/>
          <p:cNvSpPr/>
          <p:nvPr/>
        </p:nvSpPr>
        <p:spPr>
          <a:xfrm>
            <a:off x="6693408" y="1636776"/>
            <a:ext cx="43068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Principio usado: una buena visualización responde una pregunta y su interpretación entrega la respuesta.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9944" y="2752344"/>
            <a:ext cx="4873752" cy="2496312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pic>
        <p:nvPicPr>
          <p:cNvPr id="9" name="Image 0" descr="/mnt/data/eval3_assets/dashboard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857451"/>
            <a:ext cx="4800600" cy="228609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566928" y="402336"/>
            <a:ext cx="7772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utilizados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con registros por país y año.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2331720" cy="850392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/>
          <a:p/>
        </p:txBody>
      </p:sp>
      <p:sp>
        <p:nvSpPr>
          <p:cNvPr id="6" name="Shape 4"/>
          <p:cNvSpPr/>
          <p:nvPr/>
        </p:nvSpPr>
        <p:spPr>
          <a:xfrm>
            <a:off x="685800" y="1417320"/>
            <a:ext cx="54864" cy="8503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 wrap="square"/>
          <a:p/>
        </p:txBody>
      </p:sp>
      <p:sp>
        <p:nvSpPr>
          <p:cNvPr id="7" name="Text 5"/>
          <p:cNvSpPr/>
          <p:nvPr/>
        </p:nvSpPr>
        <p:spPr>
          <a:xfrm>
            <a:off x="850392" y="15636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4748B"/>
                </a:solidFill>
              </a:rPr>
              <a:t>Filas del CSV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850392" y="181051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3"/>
                </a:solidFill>
              </a:rPr>
              <a:t>50.411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331720" cy="850392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/>
          <a:p/>
        </p:txBody>
      </p:sp>
      <p:sp>
        <p:nvSpPr>
          <p:cNvPr id="10" name="Shape 8"/>
          <p:cNvSpPr/>
          <p:nvPr/>
        </p:nvSpPr>
        <p:spPr>
          <a:xfrm>
            <a:off x="3246120" y="1417320"/>
            <a:ext cx="54864" cy="8503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 wrap="square"/>
          <a:p/>
        </p:txBody>
      </p:sp>
      <p:sp>
        <p:nvSpPr>
          <p:cNvPr id="11" name="Text 9"/>
          <p:cNvSpPr/>
          <p:nvPr/>
        </p:nvSpPr>
        <p:spPr>
          <a:xfrm>
            <a:off x="3410712" y="15636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4748B"/>
                </a:solidFill>
              </a:rPr>
              <a:t>Columnas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3410712" y="181051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700" b="1">
                <a:solidFill>
                  <a:srgbClr val="173B63"/>
                </a:solidFill>
                <a:latin typeface="Aptos"/>
              </a:rPr>
              <a:t>79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806440" y="1417320"/>
            <a:ext cx="2331720" cy="850392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/>
          <a:p/>
        </p:txBody>
      </p:sp>
      <p:sp>
        <p:nvSpPr>
          <p:cNvPr id="14" name="Shape 12"/>
          <p:cNvSpPr/>
          <p:nvPr/>
        </p:nvSpPr>
        <p:spPr>
          <a:xfrm>
            <a:off x="5806440" y="1417320"/>
            <a:ext cx="54864" cy="8503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 wrap="square"/>
          <a:p/>
        </p:txBody>
      </p:sp>
      <p:sp>
        <p:nvSpPr>
          <p:cNvPr id="15" name="Text 13"/>
          <p:cNvSpPr/>
          <p:nvPr/>
        </p:nvSpPr>
        <p:spPr>
          <a:xfrm>
            <a:off x="5971032" y="15636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4748B"/>
                </a:solidFill>
              </a:rPr>
              <a:t>Rango de años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5971032" y="181051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3"/>
                </a:solidFill>
              </a:rPr>
              <a:t>1750–2024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366760" y="1417320"/>
            <a:ext cx="2331720" cy="850392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/>
          <a:p/>
        </p:txBody>
      </p:sp>
      <p:sp>
        <p:nvSpPr>
          <p:cNvPr id="18" name="Shape 16"/>
          <p:cNvSpPr/>
          <p:nvPr/>
        </p:nvSpPr>
        <p:spPr>
          <a:xfrm>
            <a:off x="8366760" y="1417320"/>
            <a:ext cx="54864" cy="8503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 wrap="square"/>
          <a:p/>
        </p:txBody>
      </p:sp>
      <p:sp>
        <p:nvSpPr>
          <p:cNvPr id="19" name="Text 17"/>
          <p:cNvSpPr/>
          <p:nvPr/>
        </p:nvSpPr>
        <p:spPr>
          <a:xfrm>
            <a:off x="8531352" y="15636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4748B"/>
                </a:solidFill>
              </a:rPr>
              <a:t>Países / registros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8531352" y="181051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3"/>
                </a:solidFill>
              </a:rPr>
              <a:t>254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0120" y="2788920"/>
            <a:ext cx="100584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usadas: país, año, población, PIB, CO₂ total, CO₂ per cápita y participación global.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separan países reales de agregados como World o continentes usando iso_code.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año más reciente utilizado en comparaciones es 2024.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234440" y="4800600"/>
            <a:ext cx="946404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 wrap="square"/>
          <a:p/>
        </p:txBody>
      </p:sp>
      <p:sp>
        <p:nvSpPr>
          <p:cNvPr id="23" name="Text 21"/>
          <p:cNvSpPr/>
          <p:nvPr/>
        </p:nvSpPr>
        <p:spPr>
          <a:xfrm>
            <a:off x="1435608" y="4928616"/>
            <a:ext cx="9061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Dataset robusto: permite análisis temporal, comparaciones por país y relación entre variables numéricas.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566928" y="402336"/>
            <a:ext cx="7772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Preparación y limpieza básica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simple y defendible con Pandas.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493776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Selección de columnas relevantes para evitar ruido.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Conversión de variables numéricas con pd.to_numeric.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de países reales: registros con iso_code.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Eliminación de nulos solo donde el gráfico lo requiere.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26480" y="1325880"/>
            <a:ext cx="4754880" cy="3246120"/>
          </a:xfrm>
          <a:prstGeom prst="roundRect">
            <a:avLst>
              <a:gd name="adj" fmla="val 225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7" name="Text 5"/>
          <p:cNvSpPr/>
          <p:nvPr/>
        </p:nvSpPr>
        <p:spPr>
          <a:xfrm>
            <a:off x="6446520" y="1682496"/>
            <a:ext cx="416052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columnas = ["country", "year", "iso_code",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"population", "gdp", "co2",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"co2_per_capita", "share_global_co2"]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df[columnas].copy()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paises = datos[datos["iso_code"].notna()]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anio_reciente = int(paises["year"].max())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60120" y="4736592"/>
            <a:ext cx="973836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 wrap="square"/>
          <a:p/>
        </p:txBody>
      </p:sp>
      <p:sp>
        <p:nvSpPr>
          <p:cNvPr id="9" name="Text 7"/>
          <p:cNvSpPr/>
          <p:nvPr/>
        </p:nvSpPr>
        <p:spPr>
          <a:xfrm>
            <a:off x="1161288" y="4864608"/>
            <a:ext cx="93360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La limpieza es básica, pero suficiente: deja los datos listos para responder las preguntas del dashboard.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566928" y="402336"/>
            <a:ext cx="7772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dashboard: lectura inicial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primero, gráficos después.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2514600" cy="850392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/>
          <a:p/>
        </p:txBody>
      </p:sp>
      <p:sp>
        <p:nvSpPr>
          <p:cNvPr id="6" name="Shape 4"/>
          <p:cNvSpPr/>
          <p:nvPr/>
        </p:nvSpPr>
        <p:spPr>
          <a:xfrm>
            <a:off x="685800" y="1325880"/>
            <a:ext cx="54864" cy="8503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 wrap="square"/>
          <a:p/>
        </p:txBody>
      </p:sp>
      <p:sp>
        <p:nvSpPr>
          <p:cNvPr id="7" name="Text 5"/>
          <p:cNvSpPr/>
          <p:nvPr/>
        </p:nvSpPr>
        <p:spPr>
          <a:xfrm>
            <a:off x="850392" y="147218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4748B"/>
                </a:solidFill>
              </a:rPr>
              <a:t>Año analizado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850392" y="171907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3"/>
                </a:solidFill>
              </a:rPr>
              <a:t>2024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29000" y="1325880"/>
            <a:ext cx="2514600" cy="850392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/>
          <a:p/>
        </p:txBody>
      </p:sp>
      <p:sp>
        <p:nvSpPr>
          <p:cNvPr id="10" name="Shape 8"/>
          <p:cNvSpPr/>
          <p:nvPr/>
        </p:nvSpPr>
        <p:spPr>
          <a:xfrm>
            <a:off x="3429000" y="1325880"/>
            <a:ext cx="54864" cy="8503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 wrap="square"/>
          <a:p/>
        </p:txBody>
      </p:sp>
      <p:sp>
        <p:nvSpPr>
          <p:cNvPr id="11" name="Text 9"/>
          <p:cNvSpPr/>
          <p:nvPr/>
        </p:nvSpPr>
        <p:spPr>
          <a:xfrm>
            <a:off x="3593592" y="147218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4748B"/>
                </a:solidFill>
              </a:rPr>
              <a:t>CO₂ mundial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3593592" y="171907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3"/>
                </a:solidFill>
              </a:rPr>
              <a:t>38.599 Mt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514600" cy="850392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/>
          <a:p/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54864" cy="8503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 wrap="square"/>
          <a:p/>
        </p:txBody>
      </p:sp>
      <p:sp>
        <p:nvSpPr>
          <p:cNvPr id="15" name="Text 13"/>
          <p:cNvSpPr/>
          <p:nvPr/>
        </p:nvSpPr>
        <p:spPr>
          <a:xfrm>
            <a:off x="6336792" y="147218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4748B"/>
                </a:solidFill>
              </a:rPr>
              <a:t>CO₂ Chile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6336792" y="171907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3"/>
                </a:solidFill>
              </a:rPr>
              <a:t>78.7 Mt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15400" y="1325880"/>
            <a:ext cx="2514600" cy="850392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/>
          <a:p/>
        </p:txBody>
      </p:sp>
      <p:sp>
        <p:nvSpPr>
          <p:cNvPr id="18" name="Shape 16"/>
          <p:cNvSpPr/>
          <p:nvPr/>
        </p:nvSpPr>
        <p:spPr>
          <a:xfrm>
            <a:off x="8915400" y="1325880"/>
            <a:ext cx="54864" cy="8503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 wrap="square"/>
          <a:p/>
        </p:txBody>
      </p:sp>
      <p:sp>
        <p:nvSpPr>
          <p:cNvPr id="19" name="Text 17"/>
          <p:cNvSpPr/>
          <p:nvPr/>
        </p:nvSpPr>
        <p:spPr>
          <a:xfrm>
            <a:off x="9079992" y="147218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4748B"/>
                </a:solidFill>
              </a:rPr>
              <a:t>Chile per cápita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9079992" y="171907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3"/>
                </a:solidFill>
              </a:rPr>
              <a:t>3.98 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106424" y="2633472"/>
            <a:ext cx="10040112" cy="2862072"/>
          </a:xfrm>
          <a:prstGeom prst="roundRect">
            <a:avLst>
              <a:gd name="adj" fmla="val 1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pic>
        <p:nvPicPr>
          <p:cNvPr id="22" name="Image 0" descr="/mnt/data/eval3_assets/dashboard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8238" y="2670048"/>
            <a:ext cx="5856483" cy="27889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566928" y="402336"/>
            <a:ext cx="7772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Visualización 1: tendencia mundial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de líneas para evolución temporal.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9224" y="1261872"/>
            <a:ext cx="6793992" cy="4416552"/>
          </a:xfrm>
          <a:prstGeom prst="roundRect">
            <a:avLst>
              <a:gd name="adj" fmla="val 10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pic>
        <p:nvPicPr>
          <p:cNvPr id="6" name="Image 0" descr="/mnt/data/eval3_assets/world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912"/>
            <a:ext cx="6720840" cy="319047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41732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 wrap="square"/>
          <a:p/>
        </p:txBody>
      </p:sp>
      <p:sp>
        <p:nvSpPr>
          <p:cNvPr id="8" name="Text 5"/>
          <p:cNvSpPr/>
          <p:nvPr/>
        </p:nvSpPr>
        <p:spPr>
          <a:xfrm>
            <a:off x="7927848" y="1545336"/>
            <a:ext cx="31181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Lectura: entre 1990 y 2024, las emisiones mundiales aumentan aproximadamente 69.8%.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18120" y="2743200"/>
            <a:ext cx="333756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línea permite ver cambios año a año.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reciente supera al de 1990.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interactividad del notebook permite explorar puntos específicos con hover y zoom.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566928" y="402336"/>
            <a:ext cx="7772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Visualización 2: comparación por país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de barras para comparar categorías en 2024.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9224" y="1353312"/>
            <a:ext cx="7068312" cy="4352544"/>
          </a:xfrm>
          <a:prstGeom prst="roundRect">
            <a:avLst>
              <a:gd name="adj" fmla="val 10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pic>
        <p:nvPicPr>
          <p:cNvPr id="6" name="Image 0" descr="/mnt/data/eval3_assets/top10_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62081"/>
            <a:ext cx="6995160" cy="33350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0" y="1417320"/>
            <a:ext cx="3246120" cy="896112"/>
          </a:xfrm>
          <a:prstGeom prst="roundRect">
            <a:avLst>
              <a:gd name="adj" fmla="val 8163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 wrap="square"/>
          <a:p/>
        </p:txBody>
      </p:sp>
      <p:sp>
        <p:nvSpPr>
          <p:cNvPr id="8" name="Text 5"/>
          <p:cNvSpPr/>
          <p:nvPr/>
        </p:nvSpPr>
        <p:spPr>
          <a:xfrm>
            <a:off x="8202168" y="1545336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Hallazgo: China lidera el ranking con cerca de 12.289 Mt de CO₂.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01000" y="2788920"/>
            <a:ext cx="324612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barras muestran diferencias de magnitud con rapidez.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top de emisiones totales se concentra en pocos países.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gráfico se complementa con CO₂ per cápita en el hover del notebook.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566928" y="402336"/>
            <a:ext cx="7772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Visualización 3: relación entre variables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de dispersión para población y CO₂ total.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9224" y="1353312"/>
            <a:ext cx="6976872" cy="4352544"/>
          </a:xfrm>
          <a:prstGeom prst="roundRect">
            <a:avLst>
              <a:gd name="adj" fmla="val 10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pic>
        <p:nvPicPr>
          <p:cNvPr id="6" name="Image 0" descr="/mnt/data/eval3_assets/scatter_pop_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87451"/>
            <a:ext cx="6903720" cy="32842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417320"/>
            <a:ext cx="3401568" cy="896112"/>
          </a:xfrm>
          <a:prstGeom prst="roundRect">
            <a:avLst>
              <a:gd name="adj" fmla="val 8163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 wrap="square"/>
          <a:p/>
        </p:txBody>
      </p:sp>
      <p:sp>
        <p:nvSpPr>
          <p:cNvPr id="8" name="Text 5"/>
          <p:cNvSpPr/>
          <p:nvPr/>
        </p:nvSpPr>
        <p:spPr>
          <a:xfrm>
            <a:off x="8110728" y="1545336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Resultado: correlación población–CO₂ ≈ 0.82 en 2024.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01000" y="2788920"/>
            <a:ext cx="324612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punto representa un país.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usan escalas logarítmicas por grandes diferencias entre países.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tamaño/color permite observar CO₂ per cápita como complemento.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566928" y="402336"/>
            <a:ext cx="7772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Chile y comparación regional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lectura cercana para interpretar el dato.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57784" y="1261872"/>
            <a:ext cx="5422392" cy="4233672"/>
          </a:xfrm>
          <a:prstGeom prst="roundRect">
            <a:avLst>
              <a:gd name="adj" fmla="val 10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pic>
        <p:nvPicPr>
          <p:cNvPr id="6" name="Image 0" descr="/mnt/data/eval3_assets/chile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09031"/>
            <a:ext cx="5349240" cy="25393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27064" y="1261872"/>
            <a:ext cx="5422392" cy="4233672"/>
          </a:xfrm>
          <a:prstGeom prst="roundRect">
            <a:avLst>
              <a:gd name="adj" fmla="val 10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pic>
        <p:nvPicPr>
          <p:cNvPr id="8" name="Image 1" descr="/mnt/data/eval3_assets/latam_20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03612"/>
            <a:ext cx="5349240" cy="25501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4400" y="5623560"/>
            <a:ext cx="10058400" cy="502920"/>
          </a:xfrm>
          <a:prstGeom prst="roundRect">
            <a:avLst>
              <a:gd name="adj" fmla="val 14545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 wrap="square"/>
          <a:p/>
        </p:txBody>
      </p:sp>
      <p:sp>
        <p:nvSpPr>
          <p:cNvPr id="10" name="Text 6"/>
          <p:cNvSpPr/>
          <p:nvPr/>
        </p:nvSpPr>
        <p:spPr>
          <a:xfrm>
            <a:off x="1115568" y="5751576"/>
            <a:ext cx="9656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Chile registra 78.7 Mt de CO₂ y 3.98 t per cápita en 2024.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566928" y="402336"/>
            <a:ext cx="7772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 y claridad visual del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panel debe guiar la mirada del usuario.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475488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Claridad: cada título dice qué se está mirando.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Simplicidad: se muestran solo variables necesarias.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Relevancia: cada gráfico responde una pregunta.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Accesibilidad: etiquetas legibles y escalas claras.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080760" y="1325880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sp>
        <p:nvSpPr>
          <p:cNvPr id="7" name="Text 5"/>
          <p:cNvSpPr/>
          <p:nvPr/>
        </p:nvSpPr>
        <p:spPr>
          <a:xfrm>
            <a:off x="6446520" y="1627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63"/>
                </a:solidFill>
              </a:rPr>
              <a:t>Secuencia del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6520" y="2176272"/>
            <a:ext cx="44348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principales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Tendencia mundial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por país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población–CO₂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Chile y región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43000" y="5074920"/>
            <a:ext cx="987552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 wrap="square"/>
          <a:p/>
        </p:txBody>
      </p:sp>
      <p:sp>
        <p:nvSpPr>
          <p:cNvPr id="10" name="Text 8"/>
          <p:cNvSpPr/>
          <p:nvPr/>
        </p:nvSpPr>
        <p:spPr>
          <a:xfrm>
            <a:off x="1344168" y="5202936"/>
            <a:ext cx="947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Regla práctica aplicada: si no se entiende qué mirar primero, el dashboard está sobrecargado.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566928" y="402336"/>
            <a:ext cx="7772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Git/GitHub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8961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Repositorio y flujo básico de versionamiento.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5257800" cy="3429000"/>
          </a:xfrm>
          <a:prstGeom prst="roundRect">
            <a:avLst>
              <a:gd name="adj" fmla="val 213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 wrap="square"/>
          <a:p/>
        </p:txBody>
      </p:sp>
      <p:sp>
        <p:nvSpPr>
          <p:cNvPr id="6" name="Text 4"/>
          <p:cNvSpPr/>
          <p:nvPr/>
        </p:nvSpPr>
        <p:spPr>
          <a:xfrm>
            <a:off x="1078992" y="1755648"/>
            <a:ext cx="466344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"Agrega analisis inicial de CO2"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Luego de editar README en GitHub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0" y="1572768"/>
            <a:ext cx="44805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del repositorio en GitHub.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o archivo Python visible en GitHub.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de git log --oneline -3.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de git pull ejecutado correctamente.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43434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 wrap="square"/>
          <a:p/>
        </p:txBody>
      </p:sp>
      <p:sp>
        <p:nvSpPr>
          <p:cNvPr id="9" name="Text 7"/>
          <p:cNvSpPr/>
          <p:nvPr/>
        </p:nvSpPr>
        <p:spPr>
          <a:xfrm>
            <a:off x="6601968" y="4471416"/>
            <a:ext cx="4261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La evidencia Git no es decoración: demuestra historial, colaboración y respaldo del trabajo.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713232" y="71323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66928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emisiones mundiales muestran una tendencia creciente desde 1990.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mayores emisores totales se concentran en pocos países.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Población y CO₂ total presentan relación positiva, pero no explican todo.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Chile debe interpretarse mirando CO₂ total y CO₂ per cápita.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84264" y="1106424"/>
            <a:ext cx="4873752" cy="2999232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pic>
        <p:nvPicPr>
          <p:cNvPr id="6" name="Image 0" descr="/mnt/data/eval3_assets/world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66586"/>
            <a:ext cx="4800600" cy="22789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84264" y="4215384"/>
            <a:ext cx="4873752" cy="1581912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/>
          <a:p/>
        </p:txBody>
      </p:sp>
      <p:pic>
        <p:nvPicPr>
          <p:cNvPr id="8" name="Image 1" descr="/mnt/data/eval3_assets/top10_c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831" y="4251960"/>
            <a:ext cx="3164617" cy="1508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349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Parcial 3 · Programación para la Ciencia de Datos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1338560" y="6519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00">
                <a:solidFill>
                  <a:srgbClr val="5B6B7C"/>
                </a:solidFill>
                <a:latin typeface="Aptos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interactivo de emisiones de CO₂</dc:title>
  <dc:subject>Programación para la Ciencia de Datos</dc:subject>
  <dc:creator>Grupo Evaluación 3</dc:creator>
  <cp:lastModifiedBy>Grupo Evaluación 3</cp:lastModifiedBy>
  <cp:revision>1</cp:revision>
  <dcterms:created xsi:type="dcterms:W3CDTF">2026-07-02T02:39:14Z</dcterms:created>
  <dcterms:modified xsi:type="dcterms:W3CDTF">2026-07-02T02:39:14Z</dcterms:modified>
</cp:coreProperties>
</file>